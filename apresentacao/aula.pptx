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se apresente: a professora leu a minibio. Diga o título e o que a plateia leva embora: um repositório que roda no laptop dela, com o mesmo software que roda na nuvem.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CEAP = Cota para o Exercício da Atividade Parlamentar. Verba mensal, prestação de contas, publicação obrigatória. Diga a regra da aula uma vez e não volte nela: nenhum deputado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é o glossário lido em voz alta, uma única vez na aula. Quem não é da área precisa das cinco palavras; quem é, precisa saber que o SIGEPA existe. A legenda mostra o que acontece sem a quarta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Vá devagar. A coluna da direita sobe 16 vezes em cinco anos e o script de 2019 continuou igual. É o argumento para arquitetura, antes de qualquer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script sem ironia. É assim que uma análise começa e, para uma pergunta feita uma vez, basta. Tudo o que vem depois é comparado com estas oito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Aconteceu com este arquivo: baixado em 04/09 e de novo em 18/09. Leia as duas saídas sem comentar; a plateia vê a diferença. Depois o parágrafo final, que é onde a palavra arquitetura entra na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Construa o desenho no ritmo da fala: o CSV, depois o armazenamento, depois as três tabelas. O bronze existe porque a sua regra vai estar errada uma hora, e porque o arquivo de origem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números medidos em 22/09 com DuckDB sobre o Ano-2025.csv, no laptop; apresentacao/numeros.py recalcula. O tempo varia de máquina para máquina; a proporção não. Colunar, compressão e partição são o que faz massivo caber.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Aconteceu de verdade: DuckDB contou 209.066 e Spark contou 209.079, porque multiLine é true num e false no outro. A v0 guardou o erro. Consulte ao vivo se der tempo; se não, a tabela basta.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fato de documentação de cada projeto; nenhum adjetivo. Se perguntarem qual é o melhor: depende do motor que já está na sua casa. A última frase é a ponte para a pós; é a sua pesquisa, diga em uma frase e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falar, docker compose ps no terminal: cinco containers. O worker 3 está tracejado porque vai subir de verdade no slide 18. Docker aqui simula dois serviços de nuvem: um cluster de processamento e um object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caminho de cima para baixo, uma peça por vez. Depois rode make pipeline e deixe rodando: são ~2 minutos nos sete anos. O próximo slide é falado por cima da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de 2 a 4 minutos, por cima do pipeline rodando. Abra o console do MinIO (localhost:9001) e mostre lake/bronze/ano_ref=… enchendo. Roteiro: (1) cada container é um projeto de código aberto; (2) os serviços gerenciados da nuvem rodam esses mesmos projetos: EMR e Dataproc rodam Apache Spark, a Databricks criou o Delta, o MinIO implementa a API do S3; (3) o que muda é quem opera. Tom neutro: nenhum lado é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pipeline terminou. make historico mostra uma versão por escrita em cada tabela; make teste roda em 11 s. Dois testes têm nome de bug que aconteceu aqui: o estorno contado como glosa e a raiz zerada tratada como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as duas consultas ao vivo, na gold que acabou de ser escrita. Aponte que a de cima é o script do slide 5 em SQL. A frase sobre 3,30 e 3,25 responde antes que perguntem: a soma por nome chega perto, e a diferença tem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16,4 é o número que a bronze devolveu no slide anterior. Mostre que ele já é uma subtração: 22,8 de passagem menos 6,4 de devolução. Os 22,8 batem com o arquivo de 04/09 do slide 6, e é provável que as 820 linhas novas sejam devoluções; o arquivo de 04/09 não foi guardado, então diga provável, não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grep. 58 linhas, nove jeitos de escrever, e a coluna do documento: 57 iguais e uma diferente. O igual é a gaveta da Câmara para o que não tem nota; passa em qualquer validação de CNPJ. É o exemplo de formato válido com significado inválido.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lados têm bolinha verde. A escolha é de contexto. Agora o worker 3: docker compose up -d --scale spark-worker=3 com o Spark UI em localhost:8080 aberto. Se não subir em 30 s, o desenho do slide 11 já contou a história;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práticas são do Joseph Machado, Data Engineering Projects, startdataengineering.com, junho de 2024. Aponte onde cada uma está neste repositório; é a resposta para “como eu começo”.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escada é a do Machado, do mais simples ao mais complexo. Esta aula é o degrau 2. A lista do que estudar é curta de propósito; o resto vem quando o projeto pedir.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curto. O repositório sobe em dois comandos e o link está na tela. Depois abra para as perguntas: são 10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SEMUNI 2026  ·  SEMINÁRIO EM CLOUD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 processamento de dados local focado em gastos políticos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anos de nota fiscal da Câmara, 1,56 milhão de linhas, processados num laptop com o mesmo software que roda na nuvem.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Ítalo Vinícius  ·  23 de setembro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DADO, E COMO ACESSÁ-LO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nota fiscal por linha, um arquivo por ano.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CEAP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verba mensal de cada deputado. Ele gasta, presta contas, e a Câmara publica o CSV inteiro no portal de dados abertos (camara.leg.br/cotas). Publicar é obrigação legal.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567864" cy="1463040"/>
          </a:xfrm>
          <a:prstGeom prst="roundRect">
            <a:avLst>
              <a:gd name="adj" fmla="val 5000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88036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arquivos, Ano-2019 a Ano-2025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2743200"/>
            <a:ext cx="2567864" cy="1463040"/>
          </a:xfrm>
          <a:prstGeom prst="roundRect">
            <a:avLst>
              <a:gd name="adj" fmla="val 5000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9424" y="288036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538 MB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619424" y="3566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CSV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33008" y="2743200"/>
            <a:ext cx="2567864" cy="1463040"/>
          </a:xfrm>
          <a:prstGeom prst="roundRect">
            <a:avLst>
              <a:gd name="adj" fmla="val 5000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61608" y="288036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461608" y="3566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075191" y="2743200"/>
            <a:ext cx="2567864" cy="1463040"/>
          </a:xfrm>
          <a:prstGeom prst="roundRect">
            <a:avLst>
              <a:gd name="adj" fmla="val 5000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03791" y="288036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1.560.019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303791" y="3566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480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desta aula: nenhum deputado aparece.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número é somado por fornecedor. O assunto é o dado e o que se faz com ele.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653735"/>
            <a:ext cx="1072865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CEAP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para o Exercício da Atividade Parlamentar: a verba mensal que cada deputado gasta e presta contas. Publicar é obrigação legal, não gentileza.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lançamento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do arquivo: uma despesa reembolsada, com fornecedor, valor, data e categoria.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CADA LINHA SIGNIFICA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palavras antes de qualquer código.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094415" cy="2514600"/>
          </a:xfrm>
          <a:prstGeom prst="roundRect">
            <a:avLst>
              <a:gd name="adj" fmla="val 2909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784" y="138074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50876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150876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71600" y="144475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domínio, em cinco linhas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783080"/>
          <a:ext cx="10582351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387791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lançamento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despesa reembolsada: fornecedor, valor, data, categoria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glosa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parte da nota que a Câmara recusou pagar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estorno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dinheiro devolvido; entra negativo, na mesma coluna do gasto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SIGEPA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passagem emitida pelo sistema da Câmara; a companhia aérea aparece como fornecedor, sem CNPJ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raiz do CNPJ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8 primeiros dígitos identificam a empresa; os 4 seguintes, a filial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41148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quarta linha, a soma por fornecedor de 2025 põe TAM, GOL e AZUL no topo. Das 38.113 linhas de companhia aérea naquele ano, 37.114 não têm CNPJ: são bilhetes do SIGEPA, e a pergunta “quem o deputado contratou” tem que deixá-los de fora.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935828"/>
            <a:ext cx="10728655" cy="327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de negócio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de contar ou não uma linha, escrita num lugar onde dá para ler e testar.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DADO MUDA DE FORMA: LANÇAMENTOS SEM CNPJ, ANO A ANO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7223760" cy="3429000"/>
          </a:xfrm>
          <a:prstGeom prst="roundRect">
            <a:avLst>
              <a:gd name="adj" fmla="val 2133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7205472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analise.py — os sete anos, linhas sem CNPJ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34440"/>
          <a:ext cx="6711696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1828800"/>
                <a:gridCol w="1408176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LANÇAMENTOS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CNPJ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2019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289.830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4.448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8D5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1,5%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167.132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17.234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10,3%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218.765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43.487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19,9%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209.556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46.992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22,4%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232.745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56.943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24,5%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232.925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58.164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6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25,0%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209.066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37.934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18,1%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8138160" y="86868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Câmara mudou como registra o voo: até 2022 a passagem entrava com CNPJ, depois passou pelo SIGEPA, sem. O script de 2019 continuou igual, e a resposta dele mudou sem aviso.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935828"/>
            <a:ext cx="10728655" cy="327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CNPJ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documento da empresa, 14 dígitos. Sem ele, saber quem recebeu depende de confiar no nome que alguém digitou.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PROCESSO PADRÃO: UM SCRIPT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analise.py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1371600"/>
            <a:ext cx="10582351" cy="264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E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E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BE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"Ano-2025.csv"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sep=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BE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";"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encoding=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BE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(df.groupby(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BE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"txtFornecedor"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BE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"vlrDocumento"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.sum()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.sort_values(ascending=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E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.head(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E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97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linhas e 40 segundos. É assim que uma análise começa, e para uma pergunta feita uma vez isso basta. As seções seguintes comparam tudo com este script.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35828"/>
            <a:ext cx="10728655" cy="327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Python que carrega a tabela inteira na memória e deixa agrupar e somar numa linha.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MESMO SCRIPT, CATORZE DIAS DEPOIS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6675120" cy="2651760"/>
          </a:xfrm>
          <a:prstGeom prst="roundRect">
            <a:avLst>
              <a:gd name="adj" fmla="val 2759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6656832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analise.py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1371600"/>
            <a:ext cx="6163056" cy="188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analise.py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Ano-2025.csv baixado em 04/09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linhas: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208.246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      R$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22,8 mi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analise.py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mesmo arquivo, mesma URL, 18/09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linhas: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209.066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      R$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16,4 mi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868680"/>
            <a:ext cx="4069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Câmara republica o arquivo com correções. 820 linhas a mais, e a TAM perde R$ 6,4 milhões. O script não registra qual arquivo produziu qual número, nem quando rodou, nem com qual regra.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processamento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nome do que falta aqui: etapas fixas, cada uma gravada, com rastro do que leu e do que escreveu.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53735"/>
            <a:ext cx="1072865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tratamento escrito como etapas fixas, que rodam sempre na mesma ordem e deixam rastro do que fizeram.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reprodutível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de novo amanhã, na mesma entrada, e obter exatamente o mesmo número, ou saber por que não.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CAMADAS: ONDE CADA DECISÃO FICA GRAVADA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686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033272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2801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1856232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Câmara publicou. Tudo texto, nada consertado. 1.560.019 linhas.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8218" y="8686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2538" y="1033272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612538" y="12801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1856232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certos e sete colunas de defeito marcado. Nenhuma linha some.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27797" y="8686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02117" y="1033272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02117" y="12801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402117" y="1856232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tabela por pergunta. 55.672 empresas, somadas pela raiz do CNPJ.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2918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o bronze cru custa 5 GB e parece desperdício até a primeira vez que a regra de limpeza está errada. Aí ele é o que permite refazer sem pedir o arquivo de novo. E a Câmara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republica os CSVs com correções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então o arquivo de hoje não é o de ontem.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132527"/>
            <a:ext cx="10728655" cy="1131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 do CNPJ   </a:t>
            </a:r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8 primeiros dígitos, que identificam a empresa. Os 4 seguintes são a filial e os 2 últimos, os verificadores. É por ela que 55.672 empresas se somam.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 natural   </a:t>
            </a:r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que já existe no dado do mundo real, em vez de um número inventado na hora de guardar.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  </a:t>
            </a:r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estágio do pipeline que lê do lake e escreve no lake. Como cada uma fica gravada, dá para refazer só ela.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medalhão   </a:t>
            </a:r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deste arranjo em três camadas. É uma convenção de nomes: nada instala “medalhão”.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FORMATOS E PROCESSAMENTO MASSIVO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68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033272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2801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74,5 → 5,3 MB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185623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ano em CSV e em Parquet com zstd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8218" y="868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2538" y="1033272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612538" y="12801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→ 8 ms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185623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consulta, DuckDB, no laptop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27797" y="86868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02117" y="1033272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02117" y="12801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 de 5,1 MB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402117" y="185623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uma consulta de três colunas lê do arquivo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Colunar: a consulta lê só as colunas que pede. Compressão: repetição vira bytes a menos. Partição por ano: 2023 mora numa pasta, e reprocessar 2023 reescreve uma pasta. Com os três, sete anos cabem num laptop, e o mesmo código vale quando o dado cresce.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371643"/>
            <a:ext cx="10728655" cy="89199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Parquet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arquivo colunar e comprimido, aberto. É o que fica no disco por baixo de quase todo lake.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colunar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cada coluna junta, em vez de cada linha. Somar uma coluna lê uma coluna.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partição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fica em pastas por ano. Consultar um ano lê um ano, e reprocessar um ano reescreve um ano só.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LAKEHOUSE: A TABELA POR CIMA DOS ARQUIVOS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2697480"/>
          </a:xfrm>
          <a:prstGeom prst="roundRect">
            <a:avLst>
              <a:gd name="adj" fmla="val 2712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spark-sql — DESCRIBE HISTORY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34440"/>
          <a:ext cx="10582351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463040"/>
                <a:gridCol w="6193231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VERSÃO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OPERAÇÃO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LINHAS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 QUE ERA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6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209.079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multiLine: 13 linhas partidas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8D5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209.066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 multiLine: correto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804672" y="2331720"/>
            <a:ext cx="10582351" cy="6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spark-sql&gt;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 count(*) FROM delta.`s3a://lake/bronze`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AS OF 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209079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70332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lakehouse é uma tabela aberta escrita por cima de arquivos Parquet num object storage. O Delta Lake grava, ao lado dos dados, um log com cada escrita: uma versão por vez, inteira ou nada. Confiabilidade é isso. Consistência é o resto do log: a contagem errada continua na versão 0 e dá para consultar agora.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132527"/>
            <a:ext cx="10728655" cy="1131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lakehouse   </a:t>
            </a:r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abertos num object storage, com uma camada de tabela por cima que dá transação, esquema e histórico.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Lake   </a:t>
            </a:r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tabela aberto por cima de arquivos Parquet. Guarda um registro de cada escrita num log ao lado dos dados.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transação   </a:t>
            </a:r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escrita que entra inteira ou não entra. Quem lê nunca vê metade.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viagem no tempo   </a:t>
            </a:r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 tabela como ela estava antes. VERSION AS OF 0 lê o que foi escrito antes da correção.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TRÊS FORMATOS DE TABELA ABERTA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2514600"/>
          </a:xfrm>
          <a:prstGeom prst="roundRect">
            <a:avLst>
              <a:gd name="adj" fmla="val 2909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mesmo problema, três respostas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34440"/>
          <a:ext cx="10582351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3657600"/>
                <a:gridCol w="2261311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FORMATO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QUEM MANTÉM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COMO GUARDA O HISTÓRICO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ONDE É O PADRÃO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Delta Lake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Foundation; nasceu na Databricks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_delta_log: um JSON por escrita, checkpoints em Parquet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Databricks; Spark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Apache Iceberg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Software Foundation; nasceu na Netflix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metadados: metadata.json, manifest list, manifests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Snowflake, Athena, BigQuery, Trino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Apache Hudi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Software Foundation; nasceu na Uber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em .hoodie/; tabelas copy-on-write ou merge-on-read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EMR; cargas com upsert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3566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resolvem o mesmo problema: transação e histórico sobre arquivos que não sabem o que é uma tabela. Este repositório usa Delta porque o Spark que roda aqui já o carrega. Comparar os três em carga real (TPC-DS) é a minha pesquisa, e é por aí que se entra na pós-graduação.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653735"/>
            <a:ext cx="1072865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Iceberg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tabela aberto da Apache, com metadados em árvore; nasceu na Netflix.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Hudi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tabela aberto da Apache, feito para atualização linha a linha; nasceu na Uber.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DOCKER: O QUE ELE SIMULA AQUI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914400"/>
            <a:ext cx="6035040" cy="2926080"/>
          </a:xfrm>
          <a:prstGeom prst="rect">
            <a:avLst/>
          </a:prstGeom>
          <a:solidFill>
            <a:srgbClr val="141D2A"/>
          </a:solidFill>
          <a:ln w="12700">
            <a:solidFill>
              <a:srgbClr val="22303F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7406640" y="914400"/>
            <a:ext cx="4233672" cy="2926080"/>
          </a:xfrm>
          <a:prstGeom prst="rect">
            <a:avLst/>
          </a:prstGeom>
          <a:solidFill>
            <a:srgbClr val="141D2A"/>
          </a:solidFill>
          <a:ln w="12700">
            <a:solidFill>
              <a:srgbClr val="22303F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1005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PROCESSAMENTO · CONTAINERS spark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1005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ARMAZENAMENTO · CONTAINER minio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77440" y="137160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18222F"/>
          </a:solidFill>
          <a:ln w="15875">
            <a:solidFill>
              <a:srgbClr val="8E9F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87168" y="14447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spark-master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487168" y="17373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REPARTE O TRABALHO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77240" y="274320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8222F"/>
          </a:solidFill>
          <a:ln w="15875">
            <a:solidFill>
              <a:srgbClr val="8E9FB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" y="28163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31089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CORES · 2 GB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697480" y="274320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8222F"/>
          </a:solidFill>
          <a:ln w="15875">
            <a:solidFill>
              <a:srgbClr val="8E9F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807208" y="28163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807208" y="31089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CORES · 2 GB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17720" y="274320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01822"/>
          </a:solidFill>
          <a:ln w="15875">
            <a:solidFill>
              <a:srgbClr val="FF8A4C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4727448" y="28163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27448" y="31089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SOBE NO SLIDE 18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 flipH="1">
            <a:off x="3566160" y="2084832"/>
            <a:ext cx="-1920240" cy="658368"/>
          </a:xfrm>
          <a:prstGeom prst="line">
            <a:avLst/>
          </a:prstGeom>
          <a:noFill/>
          <a:ln w="12700">
            <a:solidFill>
              <a:srgbClr val="8E9FB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566160" y="2084832"/>
            <a:ext cx="0" cy="658368"/>
          </a:xfrm>
          <a:prstGeom prst="line">
            <a:avLst/>
          </a:prstGeom>
          <a:noFill/>
          <a:ln w="12700">
            <a:solidFill>
              <a:srgbClr val="8E9FB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566160" y="2084832"/>
            <a:ext cx="1920240" cy="658368"/>
          </a:xfrm>
          <a:prstGeom prst="line">
            <a:avLst/>
          </a:prstGeom>
          <a:noFill/>
          <a:ln w="12700">
            <a:solidFill>
              <a:srgbClr val="8E9FB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635240" y="137160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18222F"/>
          </a:solidFill>
          <a:ln w="15875">
            <a:solidFill>
              <a:srgbClr val="8E9FB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44968" y="144475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44968" y="17373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 lake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635240" y="2743200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18222F"/>
          </a:solidFill>
          <a:ln w="15875">
            <a:solidFill>
              <a:srgbClr val="8E9FB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44968" y="28163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44968" y="31089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1.560.019 LINHAS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915400" y="2743200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18222F"/>
          </a:solidFill>
          <a:ln w="15875">
            <a:solidFill>
              <a:srgbClr val="8E9FB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28163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025128" y="31089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DEFEITOS MARCADOS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0195560" y="2743200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18222F"/>
          </a:solidFill>
          <a:ln w="15875">
            <a:solidFill>
              <a:srgbClr val="8E9FB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305288" y="28163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0305288" y="31089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55.672 EMPRESAS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583680" y="2377440"/>
            <a:ext cx="822960" cy="0"/>
          </a:xfrm>
          <a:prstGeom prst="line">
            <a:avLst/>
          </a:prstGeom>
          <a:noFill/>
          <a:ln w="25400">
            <a:solidFill>
              <a:srgbClr val="FF8A4C"/>
            </a:solidFill>
            <a:prstDash val="solid"/>
            <a:headEnd type="triangle"/>
            <a:tailEnd type="triangle"/>
          </a:ln>
        </p:spPr>
      </p:sp>
      <p:sp>
        <p:nvSpPr>
          <p:cNvPr id="38" name="Text 35"/>
          <p:cNvSpPr txBox="1"/>
          <p:nvPr/>
        </p:nvSpPr>
        <p:spPr>
          <a:xfrm>
            <a:off x="640080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s3a://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03504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MESMA API DO AMAZON S3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4023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8D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containers no laptop simulam o que na nuvem são dois serviços: um cluster de processamento e um object storage.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4709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DERRUBA O PROCESSAMENTO; O LAKE CONTINUA NO VOLUME. O SPARK NÃO GUARDA DADO.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653735"/>
            <a:ext cx="1072865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isolado, subido a partir de uma imagem (a receita congelada: sistema, dependências, configuração). Cinco deles formam este ambiente.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que sobrevive ao container. O bucket do MinIO mora num volume; derrubar o stack não apaga o lake.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 O DADO MORA, E COMO É REFERENCIADO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3108960"/>
          </a:xfrm>
          <a:prstGeom prst="roundRect">
            <a:avLst>
              <a:gd name="adj" fmla="val 2353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caminho, decomposto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1371600"/>
            <a:ext cx="10582351" cy="2548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BE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s3a://lake/bronze/ano_ref=2023/part-00000-….parquet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s3a://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protocolo: o Spark falando com object storage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 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bucket; o endpoint é minio:9000 aqui e s3.amazonaws.com lá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tabela; ao lado dela, _delta_log/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ano_ref=2023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partição: um ano, uma pasta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part-….parquet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arquivo colunar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spark-sql&gt;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 count(*) FROM delta.`s3a://lake/bronze` WHERE ano_ref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BE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232745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leu a pasta de 2023; as outras seis ficaram fechadas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148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Referenciar é isto: endpoint, bucket, tabela, partição, arquivo. Processar é o Spark abrir só a pasta pedida e só as colunas pedidas.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pipeline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começa agora e escreve as três tabelas nos sete anos.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71643"/>
            <a:ext cx="10728655" cy="89199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s3a://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jeito do Spark falar com armazenamento de objetos. Entre o MinIO daqui e o S3 da AWS muda o endereço, não a consulta.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endereço do serviço de armazenamento. É a linha de configuração que muda entre rodar aqui e rodar na AWS.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storage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arquivo inteiro endereçado por um nome, em vez de blocos como um disco. É o que MinIO e S3 fazem.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RODA: CÓDIGO ABERTO, E OS NOMES NA NUVEM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PROCESSAMENTO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SEU DOCKER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755648"/>
            <a:ext cx="1097280" cy="0"/>
          </a:xfrm>
          <a:prstGeom prst="line">
            <a:avLst/>
          </a:prstGeom>
          <a:noFill/>
          <a:ln w="25400">
            <a:solidFill>
              <a:srgbClr val="FF8A4C"/>
            </a:solidFill>
            <a:prstDash val="solid"/>
            <a:headEnd type="triangl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943600" y="1188720"/>
            <a:ext cx="5696712" cy="1143000"/>
          </a:xfrm>
          <a:prstGeom prst="roundRect">
            <a:avLst>
              <a:gd name="adj" fmla="val 6400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· Dataproc · Databricks · Synapse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828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MESMO APACHE SPARK, OPERADO POR OUTRA PESSOA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ARMAZENAMENTO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154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SEU DOCKER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3584448"/>
            <a:ext cx="1097280" cy="0"/>
          </a:xfrm>
          <a:prstGeom prst="line">
            <a:avLst/>
          </a:prstGeom>
          <a:noFill/>
          <a:ln w="25400">
            <a:solidFill>
              <a:srgbClr val="FF8A4C"/>
            </a:solidFill>
            <a:prstDash val="solid"/>
            <a:headEnd type="triangl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943600" y="3017520"/>
            <a:ext cx="5696712" cy="1143000"/>
          </a:xfrm>
          <a:prstGeom prst="roundRect">
            <a:avLst>
              <a:gd name="adj" fmla="val 6400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3154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· Google Cloud Storage · Azure Blob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657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MESMA API. VOCÊ TROCA UMA LINHA DE CONFIGURAÇÃO.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720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8D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MinIO, Spark, Delta e Docker são código aberto. Os serviços gerenciados rodam esses mesmos projetos; muda quem opera.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653735"/>
            <a:ext cx="1072865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e storage separados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processa e quem guarda são serviços distintos. Escalar um não obriga a escalar o outro.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elasticidade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máquina quando precisa e devolver depois. O worker 3 sobe ao vivo no slide 18; na nuvem são 200, e o código é o mesmo.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PIPELINE TERMINOU: UMA VERSÃO POR ESCRITA, E 21 TESTES EM 11 SEGUNDOS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2514600"/>
          </a:xfrm>
          <a:prstGeom prst="roundRect">
            <a:avLst>
              <a:gd name="adj" fmla="val 2909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historico · make teste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1371600"/>
            <a:ext cx="10582351" cy="188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v1 WRITE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v1 WRITE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v1 WRITE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test_estorno_nao_conta_como_glosa_maior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test_raiz_zerada_nao_e_empresa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test_raiz_de_verdade_nao_e_confundida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passed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11.09s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611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rodam sem cluster e sem MinIO, numa SparkSession local. Eles testam a regra de negócio, e dois deles existem porque o bug aconteceu: o estorno contado como glosa, e a raiz zerada tratada como empresa.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53735"/>
            <a:ext cx="1072865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SparkSession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que representa a conexão com o Spark. O teste sobe uma local, sem cluster e sem MinIO.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contínua: os testes rodam sozinhos a cada mudança no repositório, antes de alguém confiar nela.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MESMA PERGUNTA, NAS DUAS PONTAS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3063240"/>
          </a:xfrm>
          <a:prstGeom prst="roundRect">
            <a:avLst>
              <a:gd name="adj" fmla="val 2388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spark-sql — container spark-master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1371600"/>
            <a:ext cx="10582351" cy="181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spark-sql&gt;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 txtFornecedor, CAST(sum(vlrDocumento) AS DECIMAL(18,2)) 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FROM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numAno=2025 GROUP BY 1 ORDER BY 2 DESC LIMIT 3;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16.402.463,26   GOL 6.052.550,88   AZUL 4.696.245,04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spark-sql&gt;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 fornecedor, total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FROM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fornecedores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ano_ref=2025 ORDER BY total DESC LIMIT 3;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 3.251.951,87   PANTANAL 3.227.314,77   VIVO 1.591.715,84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148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R$ 3,25 mi para a Facebook Serviços Online do Brasil em 2025. A soma por nome do script dá R$ 3,30 mi; a gold soma o reembolso e agrupa por CNPJ, e isso tira R$ 51 mil de nota não paga e uma linha homônima de outra empresa.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35828"/>
            <a:ext cx="10728655" cy="327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pergunta do slide 5, escrita como consulta. bronze é a tabela do slide 12, registrada pelo nome. Quem lê não precisa abrir o script para saber o que foi perguntado.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ACHADO 1: O QUE ESTÁ DENTRO DOS R$ 16,4 MILHÕES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2286000"/>
          </a:xfrm>
          <a:prstGeom prst="roundRect">
            <a:avLst>
              <a:gd name="adj" fmla="val 3200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— a TAM de 2025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1371600"/>
            <a:ext cx="10582351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tam = df[df.txtFornecedor ==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BE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"TAM"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].vlrDocumento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tam[tam &gt; 0].sum()                 R$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22.787.293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tam[tam &lt; 0].sum()                 R$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-6.384.830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5.433 linhas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tam.sum()                          R$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16.402.463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 bronze do slide 15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337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estornos: passagem devolvida, lançada como valor negativo na mesma coluna do gasto. 7.197 linhas assim em 2025, 53.112 nos sete anos. Apagar resolve a soma e perde a informação. Marcar, numa coluna a mais, guarda as duas, e cada pergunta decide se conta com eles.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53735"/>
            <a:ext cx="1072865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estorno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devolução de dinheiro já reembolsado. Entra como valor negativo, na mesma coluna do gasto.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glosa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da nota que a Câmara recusou pagar. O que saiu de verdade é o valor do documento menos a glosa.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ACHADO 2: GREP CHATGPT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2971800"/>
          </a:xfrm>
          <a:prstGeom prst="roundRect">
            <a:avLst>
              <a:gd name="adj" fmla="val 2462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Ano-2019.csv … Ano-2025.csv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34440"/>
          <a:ext cx="10582351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1280160"/>
                <a:gridCol w="2718511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FORNECEDOR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LINHAS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DOCUMENTO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OpenAI, LLC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000.000.000/0001-0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ChatGPT Plus Subscription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000.000.000/0001-0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 GPT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000.000.000/0001-0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OpenAI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000.000.000/0001-0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Chatgpt · CHATGPT · OpenAi · ChatGPT  Plus Subscription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000.000.000/0001-0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chatGPT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6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625.310.710/0017-8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40233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grafias, um produto, R$ 10,2 mil em três anos. Cinquenta e sete linhas com o mesmo documento de catorze dígitos, que passa em qualquer validação de CNPJ e é a gaveta da Câmara para o que não tem nota fiscal. Agrupar por nome dá nove fornecedores; agrupar por documento dá um que não existe.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935828"/>
            <a:ext cx="10728655" cy="327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dígito verificador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 últimos dígitos do CNPJ, calculados a partir dos outros 12. Pegam erro de digitação; não provam que a empresa existe.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E NUVEM: QUANDO CADA UM FAZ SENTIDO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68680"/>
            <a:ext cx="5364328" cy="3383280"/>
          </a:xfrm>
          <a:prstGeom prst="roundRect">
            <a:avLst>
              <a:gd name="adj" fmla="val 2162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SEU DOCKER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quando…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1920240"/>
            <a:ext cx="4724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aprendendo e quer quebrar sem medo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cabe confortavelmente numa máquina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curto importa: subiu, errou, refez em minutos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não pode sair da sua rede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78728" y="868680"/>
            <a:ext cx="5364328" cy="3383280"/>
          </a:xfrm>
          <a:prstGeom prst="roundRect">
            <a:avLst>
              <a:gd name="adj" fmla="val 2162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98768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NUVEM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98768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quando…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598768" y="1920240"/>
            <a:ext cx="4724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não cabe mais numa máquina só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precisa de 200 máquinas por 20 minutos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é pequeno e o plantão não pode ser você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equipes precisam do mesmo dado, com governança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Apache Spark e o mesmo Delta Lake dos dois lados; muda quem opera a infraestrutura. O mesmo desenho serve para os dados do TSE, do DataSUS e do INEP: troca o CSV e as regras de negócio.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935828"/>
            <a:ext cx="10728655" cy="327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governança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ler o quê, quem mudou a tabela e quando. Vira problema no dia em que o dado deixa de ser só seu.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INICIAR: QUATRO PRÁTICAS, E ONDE ELAS ESTÃO AQUI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987552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PRÁTICA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23444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181051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desde o primeiro commit. Cada número dos slides tem o commit que o produziu.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33008" y="82296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07328" y="987552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PRÁTICA 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507328" y="123444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código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507328" y="181051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src/pipeline/ com uma camada por módulo, config em arquivo, um Makefile que diz o que existe.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69748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862072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PRÁTICA 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10896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qualidade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6850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testes/ com 21 casos e qualidade.py, que relata o que cada regra acusou em vez de apagar linhas.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33008" y="269748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18222F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07328" y="2862072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PRÁTICA 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507328" y="310896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em demanda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507328" y="36850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Spark, Delta Lake, MinIO (API do S3), Docker. Os mesmos nomes das vagas e dos serviços de nuvem.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vêm de Joseph Machado, </a:t>
            </a:r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Projects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(startdataengineering.com, junho de 2024). Um repositório que cumpre as quatro é um portfólio.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935828"/>
            <a:ext cx="10728655" cy="327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portfólio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públicos que mostram como você trabalha, não só o que você sabe. É o que um recrutador de dados abre primeiro.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PORTFÓLIO: A ESCADA, E O QUE ESTUDAR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822960"/>
            <a:ext cx="11094415" cy="2743200"/>
          </a:xfrm>
          <a:prstGeom prst="roundRect">
            <a:avLst>
              <a:gd name="adj" fmla="val 2667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832104"/>
            <a:ext cx="11076127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96012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96012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896112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startdataengineering.com/post/data-engineering-projects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34440"/>
          <a:ext cx="10582351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583680"/>
                <a:gridCol w="2809951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DEGRAU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C8A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STACK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batch simples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DuckDB, Python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8D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com orquestração e object storage  ← esta aula, com dado brasileiro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Spark, Airflow, MinIO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transformação testada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dbt, DuckDB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de mudança em tempo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Debezium, Kafka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contínuo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9B6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Flink, Kafka, Grafana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C13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3840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estudar, na ordem: SQL, um motor (Spark ou DuckDB), formatos colunares, Docker, object storage, e uma nuvem até você saber o que está pagando.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935828"/>
            <a:ext cx="10728655" cy="3278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orquestração   </a:t>
            </a:r>
            <a:pPr indent="0" marL="0">
              <a:buNone/>
            </a:pPr>
            <a:r>
              <a:rPr lang="en-US" sz="11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 a ordem e a hora em que cada etapa roda, e o que fazer quando uma falha. Aqui é o Makefile; em produção, Airflow ou parecido.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LEVAR PARA CASA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56655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 PARLAMENTAR 2019–2025  ·  SEMUNI 2026 — UnB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seu laptop hoje. Sobe na nuvem no dia em que o dado crescer.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34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você viu é software aberto: MinIO, Apache Spark, Delta Lake, Docker. O CSV é público. O repositório sobe em dois comandos, e as regras de negócio ficam onde dá para ler e testar.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070C13"/>
          </a:solidFill>
          <a:ln w="9525">
            <a:solidFill>
              <a:srgbClr val="1E29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" y="4306824"/>
            <a:ext cx="5650992" cy="384048"/>
          </a:xfrm>
          <a:prstGeom prst="rect">
            <a:avLst/>
          </a:prstGeom>
          <a:solidFill>
            <a:srgbClr val="0C131C"/>
          </a:solidFill>
          <a:ln w="12700">
            <a:solidFill>
              <a:srgbClr val="0C13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4434840"/>
            <a:ext cx="109728" cy="109728"/>
          </a:xfrm>
          <a:prstGeom prst="ellipse">
            <a:avLst/>
          </a:prstGeom>
          <a:solidFill>
            <a:srgbClr val="FF6B63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4434840"/>
            <a:ext cx="109728" cy="1097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4434840"/>
            <a:ext cx="109728" cy="10972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71600" y="43708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B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repositório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4846320"/>
            <a:ext cx="5157216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 subir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· 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8D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 pipeline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23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github.com/italovinicius18/semuni-2026-engenharia-de-dados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e processamento de dados local focado em gastos políticos</dc:title>
  <dc:subject>PptxGenJS Presentation</dc:subject>
  <dc:creator>Ítalo Vinícius</dc:creator>
  <cp:lastModifiedBy>Ítalo Vinícius</cp:lastModifiedBy>
  <cp:revision>1</cp:revision>
  <dcterms:created xsi:type="dcterms:W3CDTF">2026-09-23T02:13:41Z</dcterms:created>
  <dcterms:modified xsi:type="dcterms:W3CDTF">2026-09-23T02:13:41Z</dcterms:modified>
</cp:coreProperties>
</file>