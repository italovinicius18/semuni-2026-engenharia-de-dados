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se apresente: a professora já leu a minibio. Comece pela pergunta. Diga que você vai responder três vezes e errar duas.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CEAP = Cota para o Exercício da Atividade Parlamentar. Verba mensal, prestação de contas, publicação obrigatória. Não é vazamento: é transparência ativa. Sete arquivos, um por 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script sem ironia. Esta é a forma correta de começar uma análise: é barata, é rápida, e responde. O problema aparece depois, e não é culpa de quem escreveu.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Deixe a tabela na tela em silêncio. Espere alguém na plateia ver sozinho. Só então fale. Se ninguém vir, aponte para a linha 5 e a linha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ironia nenhuma: este script é bom. O analista viu o erro do slide anterior e consertou. Leia o dicionário em voz alta, e depois a legenda. O ponto é que FUNCIONOU.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golpe da aula. A soma agora está CERTA e o pódio continua ERRADO, e as duas coisas não se contradizem. Espere a plateia procurar o erro antes de ler os parágrafos.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central da aula e o mais difícil de improvisar. Vá devagar. A coluna da direita sobe 16 vezes em cinco anos. Nada no script mudou.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Aconteceu de verdade, com este arquivo: baixado em 04/09 e de novo em 18/09. Leia as duas saídas sem comentar. A plateia vê a diferença sozinha. Depois a tese, como conclusão.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a estrutura, e só agora. Construa o desenho no ritmo da fala: o CSV, depois o armazenamento, depois as três tabelas. O bronze existe porque a sua regra vai estar errada uma 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pergunta nas duas pontas. Rode ao vivo se a internet deixar; o screencast é o plano B. Aponte que a de cima é o script do slide 3, só que em 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Clímax. Silêncio antes de falar. E seja honesto: o pandas chega ao mesmo pódio, e é preciso dizer isso antes que alguém pergunte. O que ele não tem são os próximos slides. Nos sete anos a lista muda, e o motivo é o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16,4 é o número do slide 4. Mostre que ele já é uma subtração: 22,8 de passagem menos 6,4 de devolução. Os 22,8 são o mesmo número do slide 8, e é provável que as 820 linhas novas sejam devoluções — mas o arquivo de 04/09 não está guardado. Se perguntarem, diga que é provável e não medido.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grep. 58 linhas, nove jeitos de escrever, e a coluna do documento: 57 iguais e uma diferente. O igual é a gaveta da Câmara para o que não tem nota; passa em qualquer validação de CNPJ.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coração da aula. São quatro erros meus, não hipotéticos. Leia os quatro e depois a legenda. Se estiver atrasado, corte o quarto. Primeira linha: qualidade.py relata quantas linhas cada regra acusou em vez de apagá-las. A regra errada apareceu como 53 mil acusações, não como 53 mil linhas sumidas — e foi por isso que eu 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Aconteceu de verdade: DuckDB contou 209.066 e Spark contou 209.079, porque multiLine é true num e false no outro. A v0 guardou o erro. Consulte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curto. O ponto: dois destes testes existem porque os bugs aconteceram. Teste em engenharia de dados é sobre a regra, não sobre o framework.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 desenho completo. O worker 3 está tracejado porque vai subir de verdade: docker compose up -d --scale spark-worker=3, com o Spark UI aberto noutra aba.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Tom neutro. É o mesmo software rodando em dois lugares, e o código não muda. Não deprecie nenhum lado: estamos num Seminário em Cloud e a comparação é honesta.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lados têm bolinha verde. A escolha é de contexto, não de virtude. Se alguém perguntar qual é o melhor, a resposta é: depende do que está na coluna da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 curto. O repositório sobe em dois comandos. Depois abra para as perguntas — são 10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20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SEMUNI 2026  ·  SEMINÁRIO EM CLOUD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recebeu o dinheiro da cota parlamentar?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6908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anos de nota fiscal, 1,56 milhão de linhas, domínio público. Vou responder três vezes nos próximos 35 minutos. As duas primeiras respostas estão erradas, e nenhuma delas dá erro.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Ítalo Vinícius  ·  23 de 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DADO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nota fiscal por linha, sete arquivos.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002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CEAP é a verba mensal de cada deputado. Ele gasta, presta contas, e a Câmara publica o CSV inteiro — um por ano, desde bem antes de 2019.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70332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arquivos, Ano-2019 a Ano-2025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90824" y="28346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19424" y="301752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538 MB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3619424" y="370332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CSV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33008" y="28346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301752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6461608" y="370332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075191" y="283464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03791" y="301752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1.560.019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9303791" y="370332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CEAP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para o Exercício da Atividade Parlamentar: a verba mensal que cada deputado gasta e presta contas. Publicar é obrigação legal, não gentileza.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lançamento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do arquivo — uma despesa reembolsada, com fornecedor, valor, data e categoria.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JEITO QUE A GENTE COMEÇA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analise.py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2647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"Ano-2025.csv"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sep=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";"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encoding=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"utf-8"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 = (df.groupby(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"txtFornecedor"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"vlrDocumento"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.sum()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.sort_values(ascending=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.head(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(top)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297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linhas, 40 segundos, nenhuma dependência além do pandas. Eu escrevo assim, você escreve assim, e na maior parte das vezes está tudo bem.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ad-hoc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feito sob demanda, para responder uma pergunta uma vez. Não é xingamento: é a forma certa de começar.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Python que carrega a tabela inteira na memória e deixa agrupar e somar numa linha.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SAÍDA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7589520" cy="3749040"/>
          </a:xfrm>
          <a:prstGeom prst="roundRect">
            <a:avLst>
              <a:gd name="adj" fmla="val 1951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7571232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analise.py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7077456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2257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FORNECEDOR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TOTAL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TAM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R$ 16.402.463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R$ 6.052.551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AZUL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R$ 4.696.245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PANTANAL VEÍCULOS LTDA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R$ 3.230.363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Facebook Serviços Online do Brasil Ltda.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R$ 2.237.052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HPE AUTOMOTORES DO BRASIL LTDA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R$ 1.475.070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SUPREMA MOBILIDADE LTDA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R$ 1.430.533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FACEBOOK SERVIÇOS ONLINE DO BRASIL LTDA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R$ 1.064.974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 rot="21120000">
            <a:off x="8549640" y="1463040"/>
            <a:ext cx="3017520" cy="914400"/>
          </a:xfrm>
          <a:prstGeom prst="rect">
            <a:avLst/>
          </a:prstGeom>
          <a:noFill/>
          <a:ln w="38100">
            <a:solidFill>
              <a:srgbClr val="FF8A4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6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ERRADO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846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Quinto e oitavo lugar são a mesma empresa, escrita de dois jeitos. O script rodou até o fim, sem aviso nenhum.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AÍ VOCÊ CONSERTA, PORQUE É ISSO QUE A GENTE FAZ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analise.py — três semanas depois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2548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APELIDO = {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"TAM"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"TAM"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"LATAM"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"TAM"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"GOL"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"GOL"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"AZUL"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"AZUL"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"TELEFONICA"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"VIVO"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"VIVO"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"VIVO"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limpar(nome):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 = re.sub(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r"[^A-Z0-9 ]"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(nome).upper())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chave, apelido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APELIDO.items():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re.search(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rf"\b{chave}\b"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n):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apelido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E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"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.join(n.split())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3434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AZUL tinha 50 grafias, VIVO 33, Facebook 4 — e os R$ 3,3 milhões do Facebook param de aparecer partidos em dois. De 22.024 fornecedores distintos para 21.414.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grafias diferentes da mesma coisa a uma forma única, para poder somar. É o primeiro conserto que todo mundo faz.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SOMA CERTA, A RESPOSTA ERRADA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analise.py — 2025, já com o conserto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926080"/>
                <a:gridCol w="3815791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FORNECEDOR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TOTAL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TAM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R$ 17.403.240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ainda em primeiro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R$ 6.337.713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em segundo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AZUL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R$ 5.038.621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em terceiro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FACEBOOK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R$ 3.303.431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agora inteiro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PANTANAL VEÍCULOS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R$ 3.246.762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ok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37033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Companhia aérea não é fornecedora de deputado. É o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SIGEPA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 sistema de passagens da própria Câmara: o bilhete sai por lá e a companhia cai na planilha.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38.113 linhas de aérea em 2025, 37.114 não têm CNPJ.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7091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dicionário de nomes ia descobrir isso, porque o defeito não estava na grafia. Estava na pergunta.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SIGEPA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Gestão de Passagens Aéreas da Câmara. O bilhete sai por ele, e quem cai na planilha é a companhia aérea.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O DADO NÃO FICA PARADO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Lançamentos sem CNPJ, ano a ano.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371600"/>
            <a:ext cx="7223760" cy="3429000"/>
          </a:xfrm>
          <a:prstGeom prst="roundRect">
            <a:avLst>
              <a:gd name="adj" fmla="val 2133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57784" y="1380744"/>
            <a:ext cx="7205472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50876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150876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7280" y="150876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1444752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analise.py — os sete anos, linhas sem CNPJ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783080"/>
          <a:ext cx="6711696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1828800"/>
                <a:gridCol w="1408176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LANÇAMENTOS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CNPJ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289.830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4.448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1,5%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167.132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17.234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10,3%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218.765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43.487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19,9%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209.556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46.992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22,4%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232.745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56.943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24,5%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232.925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58.164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25,0%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209.066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37.934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18,1%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8138160" y="1417320"/>
            <a:ext cx="3520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Câmara foi movendo o voo de “fornecedor com CNPJ” para “SIGEPA, sem CNPJ”. Quem escreveu o script em 2019 não escreveu nada errado. O chão é que andou.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CNPJ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da empresa, 14 dígitos. Sem ele, saber quem recebeu depende de confiar no nome que alguém digitou.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MESMO SCRIPT, CATORZE DIAS DEPOIS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6675120" cy="2651760"/>
          </a:xfrm>
          <a:prstGeom prst="roundRect">
            <a:avLst>
              <a:gd name="adj" fmla="val 2759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6656832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analise.py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6163056" cy="1880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python analise.py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Ano-2025.csv baixado em 04/09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linhas: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208.246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22,8 mi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python analise.py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mesmo arquivo, mesma URL, 18/09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linhas: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209.066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16,4 mi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868680"/>
            <a:ext cx="4069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Câmara republica o arquivo com correções. 820 linhas a mais, e a TAM perde R$ 6,4 milhões. O script não tem como saber qual dos dois arquivos produziu o número que você já mandou para alguém.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70332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pipeline não erra menos que um script. Ele erra num lugar onde dá para ver.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tratamento escrito como etapas fixas, que rodam sempre na mesma ordem e deixam rastro do que fizeram.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reprodutível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de novo amanhã, na mesma entrada, e obter exatamente o mesmo número — ou saber por que não.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ONDE O CONSERTO VAI MORAR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68680"/>
            <a:ext cx="3484778" cy="2148840"/>
          </a:xfrm>
          <a:prstGeom prst="roundRect">
            <a:avLst>
              <a:gd name="adj" fmla="val 3404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051560"/>
            <a:ext cx="2936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1298448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874520"/>
            <a:ext cx="29361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Câmara publicou. Tudo texto, nada consertado. 1.560.019 linhas.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53458" y="868680"/>
            <a:ext cx="3484778" cy="2148840"/>
          </a:xfrm>
          <a:prstGeom prst="roundRect">
            <a:avLst>
              <a:gd name="adj" fmla="val 3404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27778" y="1051560"/>
            <a:ext cx="2936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2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627778" y="1298448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627778" y="1874520"/>
            <a:ext cx="29361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certos e sete colunas de defeito marcado. Nenhuma linha some.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158277" y="868680"/>
            <a:ext cx="3484778" cy="2148840"/>
          </a:xfrm>
          <a:prstGeom prst="roundRect">
            <a:avLst>
              <a:gd name="adj" fmla="val 3404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32597" y="1051560"/>
            <a:ext cx="2936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32597" y="1298448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8432597" y="1874520"/>
            <a:ext cx="29361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tabela por pergunta. 55.672 empresas, somadas pela raiz do CNPJ.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329184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o bronze cru custa 5 GB e parece desperdício até a primeira vez que a regra de limpeza está errada. Aí ele é o que permite refazer sem pedir o arquivo de novo — e a Câmara republica os CSVs com correções, então o arquivo de hoje não é o de ontem.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132527"/>
            <a:ext cx="10728655" cy="113111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raiz do CNPJ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8 primeiros dígitos, que identificam a empresa. Os 4 seguintes são a filial e os 2 últimos, os verificadores. É por ela que 55.672 empresas se somam.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chave natural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que já existe no dado do mundo real, em vez de um número inventado na hora de guardar.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camada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estágio do pipeline que lê do lake e escreve no lake. Como cada uma fica gravada, dá para refazer só ela.</a:t>
            </a:r>
            <a:endParaRPr lang="en-US" sz="950" dirty="0"/>
          </a:p>
          <a:p>
            <a:pPr indent="0" marL="0">
              <a:buNone/>
            </a:pPr>
            <a:r>
              <a:rPr lang="en-US" sz="95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medalhão   </a:t>
            </a:r>
            <a:pPr indent="0" marL="0">
              <a:buNone/>
            </a:pPr>
            <a:r>
              <a:rPr lang="en-US" sz="105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nome deste arranjo em três camadas. É convenção de nomes, não tecnologia: nada instala “medalhão”.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MESMA PERGUNTA, NAS DUAS PONTAS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3520440"/>
          </a:xfrm>
          <a:prstGeom prst="roundRect">
            <a:avLst>
              <a:gd name="adj" fmla="val 2078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 — container spark-master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181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spark-sql&gt;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 txtFornecedor, sum(vlrDocumento) t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FROM delta.`s3a://lake/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 WHERE numAno=2025 GROUP BY 1 ORDER BY 2 DESC LIMIT 3;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 16.402.463,26   GOL 6.052.550,88   AZUL 4.696.245,04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spark-sql&gt;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 fornecedor, total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FROM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 ano_ref=2025 ORDER BY total DESC LIMIT 3;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FACEBOOK 3.251.951,87   PANTANAL 3.227.314,77   VIVO 1.591.715,84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572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arquivo, mesma pergunta, nenhum nome repetido entre as duas listas.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pergunta do slide 3, escrita como consulta. Quem lê não precisa abrir o script para saber o que foi perguntado.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s3a://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jeito do Spark falar com armazenamento de objetos. Entre o MinIO daqui e o S3 da AWS muda o endereço, não a consulta.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RESPOSTA, EM 2025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R$ 3,25 mi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48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FACEBOOK SERVIÇOS ONLINE DO BRASIL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8892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script do slide 5, com uma linha a mais —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df[df.txtCNPJCPF.notna()]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—, chega ao mesmo pódio. Ele dá R$ 3,30 mi e a gold 3,25 por duas razões que dá para nomear: ele soma a nota e a gold soma o reembolso; ele agrupa por nome e a gold por CNPJ, o que deixa de fora uma linha homônima de outra empresa.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6908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sete anos a lista volta a começar com companhia aérea — até 2022 o voo entrava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CNPJ. A regra não mudou; o dado mudou de forma. Por isso o ano é uma partição, e não um filtro solto no meio de um script.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partição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fica em pastas por ano. Consultar um ano lê um ano, e reprocessar um ano reescreve um ano só.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ESTÁ DENTRO DOS R$ 16,4 MILHÕES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286000"/>
          </a:xfrm>
          <a:prstGeom prst="roundRect">
            <a:avLst>
              <a:gd name="adj" fmla="val 3200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— a TAM do slide 4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1371600"/>
            <a:ext cx="10582351" cy="1113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 = df[df.txtFornecedor ==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BE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"TAM"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].vlrDocumento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tam[tam &gt; 0].sum()          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22.787.293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tam[tam &lt; 0].sum()          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-6.384.830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5.433 linhas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tam.sum()                          R$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16.402.463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o slide 4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3375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estornos: passagem devolvida, lançada como valor negativo na mesma coluna do gasto. 7.197 linhas assim em 2025, 53.112 nos sete anos. Apagar resolve a soma e perde a informação. Marcar, numa coluna a mais, guarda as duas — e cada pergunta decide se conta com eles.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estorno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devolução de dinheiro já reembolsado. Entra como valor negativo, na mesma coluna do gasto.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glosa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da nota que a Câmara recusou pagar. O que saiu de verdade é o valor do documento menos a glosa.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GREP CHATGPT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971800"/>
          </a:xfrm>
          <a:prstGeom prst="roundRect">
            <a:avLst>
              <a:gd name="adj" fmla="val 2462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Ano-2019.csv … Ano-2025.csv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1280160"/>
                <a:gridCol w="2718511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FORNECEDOR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LINHAS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OpenAI, LLC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ChatGPT Plus Subscription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 GPT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OpenAI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Chatgpt · CHATGPT · OpenAi · ChatGPT  Plus Subscription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000.000.000/0001-0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chatGPT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625.310.710/0017-8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402336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 grafias, um produto, R$ 10,2 mil em três anos. Cinquenta e sete linhas com o mesmo documento de catorze dígitos, que passa em qualquer validação de CNPJ e não é uma empresa: é a gaveta da Câmara para o que não tem nota fiscal. Agrupar por nome dá nove fornecedores; agrupar por documento dá um que não existe.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dígito verificador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2 últimos dígitos do CNPJ, calculados a partir dos outros 12. Pegam erro de digitação; não provam que a empresa existe.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QUATRO ERROS MEUS, E O QUE PEGOU CADA UM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514600"/>
          </a:xfrm>
          <a:prstGeom prst="roundRect">
            <a:avLst>
              <a:gd name="adj" fmla="val 2909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aconteceu montando esta aula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4181551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 ERRO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 QUE PEGOU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 de glosa acusou 53.112 linhas boas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 relatório conta, não filtra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mesma empresa com nome diferente a cada execução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rodar duas vezes e comparar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AF0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saindo como 4.99577E7 na tela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tipo decimal na gold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6B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R$ 15,1 mi de um fornecedor que não existe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consultar a gold antes de crer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36118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quarto ia para este slide. Ramal, celular funcional e Correios compartilham a raiz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viraram uma empresa só e apareceram em quarto lugar. Os catorze dígitos batem, inclusive os verificadores. Formato válido e significado válido são coisas diferentes.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ERRO CONTINUA CONSULTÁVEL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2296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83210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96012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96012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96012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89611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 — DESCRIBE HISTORY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1234440"/>
          <a:ext cx="10582351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463040"/>
                <a:gridCol w="6193231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VERSÃO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OPERAÇÃO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LINHAS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spc="200" kern="0" dirty="0">
                          <a:solidFill>
                            <a:srgbClr val="7C8A9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 QUE ERA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WRITE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6B6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209.079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multiLine — 13 linhas partidas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WRITE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8D59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209.066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9B6C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 multiLine — correto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1E29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C13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04672" y="2331720"/>
            <a:ext cx="10582351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spark-sql&gt;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 count(*) FROM delta.`s3a://lake/bronze`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AS OF 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6B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209079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7490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slide 8 o mesmo script deu outro número porque o arquivo mudou; aqui, porque mudou quem lê. Treze linhas têm quebra de linha dentro de um campo entre aspas, e dois motores honestos discordam sobre isso por padrão. O que a tabela Delta acrescenta é que a contagem errada não foi sobrescrita: ela virou a versão 0, e dá para voltar nela agora.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 Lake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tabela aberto por cima de arquivos Parquet. Guarda um registro de cada escrita num log ao lado dos dados.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viagem no tempo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 a tabela como ela estava antes. VERSION AS OF 0 lê o que foi escrito antes da correção.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IMPEDE A VOLTA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315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testes, e dois deles têm nome de cicatriz.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371600"/>
            <a:ext cx="11094415" cy="2148840"/>
          </a:xfrm>
          <a:prstGeom prst="roundRect">
            <a:avLst>
              <a:gd name="adj" fmla="val 3404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57784" y="1380744"/>
            <a:ext cx="11076127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50876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150876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7280" y="150876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1444752"/>
            <a:ext cx="10088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/opt/testes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1920240"/>
            <a:ext cx="10582351" cy="1369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test_estorno_nao_conta_como_glosa_maior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test_raiz_zerada_nao_e_empresa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test_raiz_de_verdade_nao_e_confundida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passed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 11.09s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74904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Rodam sem MinIO e sem cluster, numa SparkSession local, em 11 segundos. O que eles testam não é o Spark: é se a regra de negócio ainda significa o que eu quis dizer.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SparkSession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objeto que representa a conexão com o Spark. O teste sobe uma local, sem cluster e sem MinIO.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 SEPARADO DO ARMAZENAMENTO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051560"/>
            <a:ext cx="6035040" cy="3017520"/>
          </a:xfrm>
          <a:prstGeom prst="rect">
            <a:avLst/>
          </a:prstGeom>
          <a:solidFill>
            <a:srgbClr val="141D2A"/>
          </a:solidFill>
          <a:ln w="12700">
            <a:solidFill>
              <a:srgbClr val="22303F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7406640" y="1051560"/>
            <a:ext cx="4233672" cy="3017520"/>
          </a:xfrm>
          <a:prstGeom prst="rect">
            <a:avLst/>
          </a:prstGeom>
          <a:solidFill>
            <a:srgbClr val="141D2A"/>
          </a:solidFill>
          <a:ln w="12700">
            <a:solidFill>
              <a:srgbClr val="22303F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731520" y="11430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 · CONTAINERS spark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11430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ARMAZENAMENTO · CONTAINER minio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377440" y="1508760"/>
            <a:ext cx="2377440" cy="713232"/>
          </a:xfrm>
          <a:prstGeom prst="roundRect">
            <a:avLst>
              <a:gd name="adj" fmla="val 7692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87168" y="1581912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spark-master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487168" y="1874520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REPARTE O TRABALHO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777240" y="292608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6968" y="2999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" y="329184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CORES · 2 GB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697480" y="292608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807208" y="2999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807208" y="329184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CORES · 2 GB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617720" y="2926080"/>
            <a:ext cx="1737360" cy="822960"/>
          </a:xfrm>
          <a:prstGeom prst="roundRect">
            <a:avLst>
              <a:gd name="adj" fmla="val 6667"/>
            </a:avLst>
          </a:prstGeom>
          <a:solidFill>
            <a:srgbClr val="101822"/>
          </a:solidFill>
          <a:ln w="15875">
            <a:solidFill>
              <a:srgbClr val="FF8A4C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4727448" y="2999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27448" y="329184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SOBE AO VIVO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 flipH="1">
            <a:off x="3566160" y="2221992"/>
            <a:ext cx="-1920240" cy="704088"/>
          </a:xfrm>
          <a:prstGeom prst="line">
            <a:avLst/>
          </a:prstGeom>
          <a:noFill/>
          <a:ln w="12700">
            <a:solidFill>
              <a:srgbClr val="8E9FB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3566160" y="2221992"/>
            <a:ext cx="0" cy="704088"/>
          </a:xfrm>
          <a:prstGeom prst="line">
            <a:avLst/>
          </a:prstGeom>
          <a:noFill/>
          <a:ln w="12700">
            <a:solidFill>
              <a:srgbClr val="8E9FB5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3566160" y="2221992"/>
            <a:ext cx="1920240" cy="704088"/>
          </a:xfrm>
          <a:prstGeom prst="line">
            <a:avLst/>
          </a:prstGeom>
          <a:noFill/>
          <a:ln w="12700">
            <a:solidFill>
              <a:srgbClr val="8E9FB5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635240" y="1508760"/>
            <a:ext cx="3749040" cy="713232"/>
          </a:xfrm>
          <a:prstGeom prst="roundRect">
            <a:avLst>
              <a:gd name="adj" fmla="val 7692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44968" y="1581912"/>
            <a:ext cx="3529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MinIO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744968" y="1874520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BUCKET lake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7635240" y="2926080"/>
            <a:ext cx="118872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744968" y="299923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744968" y="32918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1.560.019 LINHAS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915400" y="2926080"/>
            <a:ext cx="118872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299923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025128" y="32918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DEFEITOS MARCADOS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10195560" y="2926080"/>
            <a:ext cx="1188720" cy="822960"/>
          </a:xfrm>
          <a:prstGeom prst="roundRect">
            <a:avLst>
              <a:gd name="adj" fmla="val 6667"/>
            </a:avLst>
          </a:prstGeom>
          <a:solidFill>
            <a:srgbClr val="18222F"/>
          </a:solidFill>
          <a:ln w="15875">
            <a:solidFill>
              <a:srgbClr val="8E9FB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305288" y="299923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0305288" y="32918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55.672 EMPRESAS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6583680" y="2606040"/>
            <a:ext cx="822960" cy="0"/>
          </a:xfrm>
          <a:prstGeom prst="line">
            <a:avLst/>
          </a:prstGeom>
          <a:noFill/>
          <a:ln w="25400">
            <a:solidFill>
              <a:srgbClr val="FF8A4C"/>
            </a:solidFill>
            <a:prstDash val="solid"/>
            <a:headEnd type="triangle"/>
            <a:tailEnd type="triangle"/>
          </a:ln>
        </p:spPr>
      </p:sp>
      <p:sp>
        <p:nvSpPr>
          <p:cNvPr id="38" name="Text 35"/>
          <p:cNvSpPr txBox="1"/>
          <p:nvPr/>
        </p:nvSpPr>
        <p:spPr>
          <a:xfrm>
            <a:off x="6400800" y="2148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s3a://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035040" y="2743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MESMA API DO AMAZON S3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251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8D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Spark não guarda o dado. derrube os três containers dele e o lake continua inteiro.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548640" y="4617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NUVEM ISSO SE CHAMA “COMPUTE E STORAGE SEPARADOS”, E É O QUE DEIXA O DESENHO PORTÁVEL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 e storage separados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processa e quem guarda são serviços distintos. Escalar um não obriga a escalar o outro.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storage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o arquivo inteiro endereçado por um nome, em vez de blocos como um disco. É o que MinIO e S3 fazem.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MESMO DESENHO, COM O NOME QUE ELE TEM NA NUVEM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18872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325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SEU DOCKER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755648"/>
            <a:ext cx="1097280" cy="0"/>
          </a:xfrm>
          <a:prstGeom prst="line">
            <a:avLst/>
          </a:prstGeom>
          <a:noFill/>
          <a:ln w="25400">
            <a:solidFill>
              <a:srgbClr val="FF8A4C"/>
            </a:solidFill>
            <a:prstDash val="solid"/>
            <a:headEnd type="triangl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943600" y="1188720"/>
            <a:ext cx="5696712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3258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EMR · Dataproc · Databricks · Synapse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8288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MESMO APACHE SPARK, OPERADO POR OUTRA PESSOA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ARMAZENAMENTO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3931920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31546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SEU DOCKER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663440" y="3584448"/>
            <a:ext cx="1097280" cy="0"/>
          </a:xfrm>
          <a:prstGeom prst="line">
            <a:avLst/>
          </a:prstGeom>
          <a:noFill/>
          <a:ln w="25400">
            <a:solidFill>
              <a:srgbClr val="FF8A4C"/>
            </a:solidFill>
            <a:prstDash val="solid"/>
            <a:headEnd type="triangle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943600" y="3017520"/>
            <a:ext cx="5696712" cy="1143000"/>
          </a:xfrm>
          <a:prstGeom prst="roundRect">
            <a:avLst>
              <a:gd name="adj" fmla="val 6400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1546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 · Google Cloud Storage · Azure Blob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36576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MESMA API. VOCÊ TROCA UMA LINHA DE CONFIGURAÇÃO.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720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8D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Lake é o mesmo formato dos dois lados. Ele é aberto, e não muda quando você paga.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53735"/>
            <a:ext cx="1072865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endpoint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endereço do serviço de armazenamento. É a linha de configuração que muda entre rodar aqui e rodar na AWS.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elasticidade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máquina quando precisa e devolver depois. O worker 3 do slide anterior sobe ao vivo; na nuvem são 200, e o código é o mesmo.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 CADA UM FAZ SENTIDO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868680"/>
            <a:ext cx="5364328" cy="3566160"/>
          </a:xfrm>
          <a:prstGeom prst="roundRect">
            <a:avLst>
              <a:gd name="adj" fmla="val 2051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SEU DOCKER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1371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quando…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1920240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aprendendo e quer quebrar sem medo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cabe confortavelmente numa máquina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curto importa: subiu, errou, refez em minutos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não pode sair da sua rede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78728" y="868680"/>
            <a:ext cx="5364328" cy="3566160"/>
          </a:xfrm>
          <a:prstGeom prst="roundRect">
            <a:avLst>
              <a:gd name="adj" fmla="val 2051"/>
            </a:avLst>
          </a:prstGeom>
          <a:solidFill>
            <a:srgbClr val="18222F"/>
          </a:solidFill>
          <a:ln w="9525">
            <a:solidFill>
              <a:srgbClr val="22303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8768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NUVEM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598768" y="1371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quando…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598768" y="1920240"/>
            <a:ext cx="47242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dado não cabe mais numa máquina só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precisa de 200 máquinas por 20 minutos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time é pequeno e o plantão não pode ser você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equipes precisam do mesmo dado, com governança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63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Apache Spark e o mesmo Delta Lake dos dois lados. O que muda é quem opera a infraestrutura.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35828"/>
            <a:ext cx="10728655" cy="3278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governança   </a:t>
            </a:r>
            <a:pPr indent="0" marL="0">
              <a:buNone/>
            </a:pPr>
            <a:r>
              <a:rPr lang="en-US" sz="11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pode ler o quê, quem mudou a tabela e quando. Vira problema no dia em que o dado deixa de ser só seu.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LEVAR PARA CASA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156655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COTA PARLAMENTAR 2019–2025  ·  SEMUNI 2026 — UnB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9144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A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script do slide 3 continua certo. Ele só precisava de um lugar para morar.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A9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você viu é software aberto — MinIO, Apache Spark, Delta Lake, Docker — e um CSV público da Câmara. Roda no seu laptop hoje e sobe na nuvem no dia em que o dado crescer, sem reescrever a regra.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4297680"/>
            <a:ext cx="5669280" cy="1188720"/>
          </a:xfrm>
          <a:prstGeom prst="roundRect">
            <a:avLst>
              <a:gd name="adj" fmla="val 6154"/>
            </a:avLst>
          </a:prstGeom>
          <a:solidFill>
            <a:srgbClr val="070C13"/>
          </a:solidFill>
          <a:ln w="9525">
            <a:solidFill>
              <a:srgbClr val="1E29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57784" y="4306824"/>
            <a:ext cx="5650992" cy="384048"/>
          </a:xfrm>
          <a:prstGeom prst="rect">
            <a:avLst/>
          </a:prstGeom>
          <a:solidFill>
            <a:srgbClr val="0C131C"/>
          </a:solidFill>
          <a:ln w="12700">
            <a:solidFill>
              <a:srgbClr val="0C13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4434840"/>
            <a:ext cx="109728" cy="109728"/>
          </a:xfrm>
          <a:prstGeom prst="ellipse">
            <a:avLst/>
          </a:prstGeom>
          <a:solidFill>
            <a:srgbClr val="FF6B63"/>
          </a:solidFill>
          <a:ln w="12700">
            <a:solidFill>
              <a:srgbClr val="FF6B6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4434840"/>
            <a:ext cx="109728" cy="109728"/>
          </a:xfrm>
          <a:prstGeom prst="ellipse">
            <a:avLst/>
          </a:prstGeom>
          <a:solidFill>
            <a:srgbClr val="FFBE55"/>
          </a:solidFill>
          <a:ln w="12700">
            <a:solidFill>
              <a:srgbClr val="FFBE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97280" y="4434840"/>
            <a:ext cx="109728" cy="109728"/>
          </a:xfrm>
          <a:prstGeom prst="ellipse">
            <a:avLst/>
          </a:prstGeom>
          <a:solidFill>
            <a:srgbClr val="48D597"/>
          </a:solidFill>
          <a:ln w="12700">
            <a:solidFill>
              <a:srgbClr val="48D59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71600" y="437083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6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repositório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4846320"/>
            <a:ext cx="515721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make subir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7C8A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· 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8D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AF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make pipeline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Quem recebeu o dinheiro da cota parlamentar?</dc:title>
  <dc:subject>PptxGenJS Presentation</dc:subject>
  <dc:creator>Ítalo Vinícius</dc:creator>
  <cp:lastModifiedBy>Ítalo Vinícius</cp:lastModifiedBy>
  <cp:revision>1</cp:revision>
  <dcterms:created xsi:type="dcterms:W3CDTF">2026-09-22T21:12:46Z</dcterms:created>
  <dcterms:modified xsi:type="dcterms:W3CDTF">2026-09-22T21:12:46Z</dcterms:modified>
</cp:coreProperties>
</file>